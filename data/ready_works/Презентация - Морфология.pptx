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Radley" charset="1" panose="00000500000000000000"/>
      <p:regular r:id="rId22"/>
    </p:embeddedFont>
    <p:embeddedFont>
      <p:font typeface="Carlito" charset="1" panose="020F0502020204030204"/>
      <p:regular r:id="rId23"/>
    </p:embeddedFont>
    <p:embeddedFont>
      <p:font typeface="Radley Italics" charset="1" panose="00000500000000000000"/>
      <p:regular r:id="rId24"/>
    </p:embeddedFont>
    <p:embeddedFont>
      <p:font typeface="Carlito Bold" charset="1" panose="020F05020202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81575" y="2839705"/>
            <a:ext cx="8324850" cy="6934200"/>
            <a:chOff x="0" y="0"/>
            <a:chExt cx="1289737" cy="1074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074289"/>
            </a:xfrm>
            <a:custGeom>
              <a:avLst/>
              <a:gdLst/>
              <a:ahLst/>
              <a:cxnLst/>
              <a:rect r="r" b="b" t="t" l="l"/>
              <a:pathLst>
                <a:path h="1074289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074289"/>
                  </a:lnTo>
                  <a:lnTo>
                    <a:pt x="0" y="1074289"/>
                  </a:lnTo>
                  <a:close/>
                </a:path>
              </a:pathLst>
            </a:custGeom>
            <a:blipFill>
              <a:blip r:embed="rId2"/>
              <a:stretch>
                <a:fillRect l="-102" t="0" r="-10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16954500" cy="2172955"/>
            <a:chOff x="0" y="0"/>
            <a:chExt cx="22606000" cy="2897274"/>
          </a:xfrm>
        </p:grpSpPr>
        <p:sp>
          <p:nvSpPr>
            <p:cNvPr name="AutoShape 5" id="5"/>
            <p:cNvSpPr/>
            <p:nvPr/>
          </p:nvSpPr>
          <p:spPr>
            <a:xfrm>
              <a:off x="0" y="2884574"/>
              <a:ext cx="22606000" cy="0"/>
            </a:xfrm>
            <a:prstGeom prst="line">
              <a:avLst/>
            </a:prstGeom>
            <a:ln cap="flat" w="25400">
              <a:solidFill>
                <a:srgbClr val="4A6A5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66700"/>
              <a:ext cx="22606000" cy="2630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4299"/>
                </a:lnSpc>
              </a:pPr>
              <a:r>
                <a:rPr lang="en-US" sz="14299" spc="-285" u="none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Морфология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611225" y="9275446"/>
            <a:ext cx="4010025" cy="344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239">
                <a:solidFill>
                  <a:srgbClr val="4A6A57"/>
                </a:solidFill>
                <a:latin typeface="Carlito"/>
                <a:ea typeface="Carlito"/>
                <a:cs typeface="Carlito"/>
                <a:sym typeface="Carlito"/>
              </a:rPr>
              <a:t>ПРЕПОДАВАТЕЛЬ ЯЗЫКА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9323705"/>
            <a:ext cx="4010025" cy="29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9"/>
              </a:lnSpc>
            </a:pPr>
            <a:r>
              <a:rPr lang="en-US" sz="2299" i="true">
                <a:solidFill>
                  <a:srgbClr val="4A6A57"/>
                </a:solidFill>
                <a:latin typeface="Radley Italics"/>
                <a:ea typeface="Radley Italics"/>
                <a:cs typeface="Radley Italics"/>
                <a:sym typeface="Radley Italics"/>
              </a:rPr>
              <a:t>[полное имя презентера]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4C3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217429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7429" cy="1593725"/>
            </a:xfrm>
            <a:custGeom>
              <a:avLst/>
              <a:gdLst/>
              <a:ahLst/>
              <a:cxnLst/>
              <a:rect r="r" b="b" t="t" l="l"/>
              <a:pathLst>
                <a:path h="1593725" w="1217429">
                  <a:moveTo>
                    <a:pt x="0" y="0"/>
                  </a:moveTo>
                  <a:lnTo>
                    <a:pt x="1217429" y="0"/>
                  </a:lnTo>
                  <a:lnTo>
                    <a:pt x="121742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421" r="0" b="-42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5"/>
            <a:ext cx="7230865" cy="5857875"/>
            <a:chOff x="0" y="0"/>
            <a:chExt cx="9641153" cy="78105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6326" y="57150"/>
              <a:ext cx="9614826" cy="2679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  <a:spcBef>
                  <a:spcPct val="0"/>
                </a:spcBef>
              </a:pPr>
              <a:r>
                <a:rPr lang="en-US" sz="7000" i="true">
                  <a:solidFill>
                    <a:srgbClr val="4A6A57"/>
                  </a:solidFill>
                  <a:latin typeface="Radley Italics"/>
                  <a:ea typeface="Radley Italics"/>
                  <a:cs typeface="Radley Italics"/>
                  <a:sym typeface="Radley Italics"/>
                </a:rPr>
                <a:t>Обзор морфологии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26326" y="3708400"/>
              <a:ext cx="9614826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 u="none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Основные задачи и значение морфологии в языке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0" y="3222414"/>
              <a:ext cx="9614826" cy="0"/>
            </a:xfrm>
            <a:prstGeom prst="line">
              <a:avLst/>
            </a:prstGeom>
            <a:ln cap="flat" w="25400">
              <a:solidFill>
                <a:srgbClr val="4A6A5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26326" y="5740400"/>
              <a:ext cx="9588500" cy="207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Морфология — это ключевая область </a:t>
              </a:r>
              <a:r>
                <a:rPr lang="en-US" b="true" sz="2000">
                  <a:solidFill>
                    <a:srgbClr val="4A6A57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языкознания</a:t>
              </a:r>
              <a:r>
                <a:rPr lang="en-US" sz="20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, исследующая части речи и их грамматические категории. Основная цель морфологии заключается в понимании структуры слов, что помогает лучше осознать правила и закономерности языка. Она играет важную роль в изучении и преподавании русского языка.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A6A5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038850"/>
            <a:ext cx="4010025" cy="3581400"/>
            <a:chOff x="0" y="0"/>
            <a:chExt cx="1391532" cy="1242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2"/>
              <a:stretch>
                <a:fillRect l="-316" t="0" r="-31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81575" y="6038850"/>
            <a:ext cx="4010025" cy="3581400"/>
            <a:chOff x="0" y="0"/>
            <a:chExt cx="1391532" cy="1242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3"/>
              <a:stretch>
                <a:fillRect l="-316" t="0" r="-31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11225" y="6038850"/>
            <a:ext cx="4010025" cy="3581400"/>
            <a:chOff x="0" y="0"/>
            <a:chExt cx="1391532" cy="12427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4"/>
              <a:stretch>
                <a:fillRect l="-316" t="0" r="-31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6750" y="723900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4A6A57"/>
                </a:solidFill>
                <a:latin typeface="Radley"/>
                <a:ea typeface="Radley"/>
                <a:cs typeface="Radley"/>
                <a:sym typeface="Radley"/>
              </a:rPr>
              <a:t>Что изучает морфология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981575" y="4248150"/>
            <a:ext cx="2876550" cy="1047633"/>
            <a:chOff x="0" y="0"/>
            <a:chExt cx="3835400" cy="139684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8575"/>
              <a:ext cx="3835400" cy="364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83"/>
                </a:lnSpc>
                <a:spcBef>
                  <a:spcPct val="0"/>
                </a:spcBef>
              </a:pPr>
              <a:r>
                <a:rPr lang="en-US" sz="1702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Части речи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00420"/>
              <a:ext cx="3835400" cy="796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83"/>
                </a:lnSpc>
              </a:pPr>
              <a:r>
                <a:rPr lang="en-US" sz="1702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Изучает основные категории языка и их особенности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4248150"/>
            <a:ext cx="2876550" cy="1047633"/>
            <a:chOff x="0" y="0"/>
            <a:chExt cx="3835400" cy="139684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600420"/>
              <a:ext cx="3835400" cy="796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83"/>
                </a:lnSpc>
              </a:pPr>
              <a:r>
                <a:rPr lang="en-US" sz="1702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Определяет важные характеристики слов в языке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28575"/>
              <a:ext cx="3835400" cy="364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83"/>
                </a:lnSpc>
                <a:spcBef>
                  <a:spcPct val="0"/>
                </a:spcBef>
              </a:pPr>
              <a:r>
                <a:rPr lang="en-US" sz="1702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Грамматические признаки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4248150"/>
            <a:ext cx="2876550" cy="1047633"/>
            <a:chOff x="0" y="0"/>
            <a:chExt cx="3835400" cy="139684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600420"/>
              <a:ext cx="3835400" cy="796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83"/>
                </a:lnSpc>
              </a:pPr>
              <a:r>
                <a:rPr lang="en-US" sz="1702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Описывает изменения и вариации слов в контексте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28575"/>
              <a:ext cx="3835400" cy="364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83"/>
                </a:lnSpc>
                <a:spcBef>
                  <a:spcPct val="0"/>
                </a:spcBef>
              </a:pPr>
              <a:r>
                <a:rPr lang="en-US" sz="1702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Формы слов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4C3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4619625" cy="793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4A6A57"/>
                </a:solidFill>
                <a:latin typeface="Radley"/>
                <a:ea typeface="Radley"/>
                <a:cs typeface="Radley"/>
                <a:sym typeface="Radley"/>
              </a:rPr>
              <a:t>Имя существительное: Определение и грамматические категории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3325" y="7829550"/>
            <a:ext cx="5753100" cy="1209675"/>
            <a:chOff x="0" y="0"/>
            <a:chExt cx="7670800" cy="16129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Определение существительных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Имя существительное обозначает предметы, явления и сущности.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A6A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038850"/>
            <a:ext cx="4010025" cy="3581400"/>
            <a:chOff x="0" y="0"/>
            <a:chExt cx="1391532" cy="1242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2"/>
              <a:stretch>
                <a:fillRect l="-316" t="0" r="-31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81575" y="6038850"/>
            <a:ext cx="4010025" cy="3581400"/>
            <a:chOff x="0" y="0"/>
            <a:chExt cx="1391532" cy="1242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3"/>
              <a:stretch>
                <a:fillRect l="-316" t="0" r="-31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11225" y="6038850"/>
            <a:ext cx="4010025" cy="3581400"/>
            <a:chOff x="0" y="0"/>
            <a:chExt cx="1391532" cy="12427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4"/>
              <a:stretch>
                <a:fillRect l="-316" t="0" r="-31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6750" y="723900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4A6A57"/>
                </a:solidFill>
                <a:latin typeface="Radley"/>
                <a:ea typeface="Radley"/>
                <a:cs typeface="Radley"/>
                <a:sym typeface="Radley"/>
              </a:rPr>
              <a:t>Род существительных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981575" y="4248150"/>
            <a:ext cx="2876550" cy="1255395"/>
            <a:chOff x="0" y="0"/>
            <a:chExt cx="3835400" cy="167386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3835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Мужской род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20420"/>
              <a:ext cx="38354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Нouns that refer to male beings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4248150"/>
            <a:ext cx="2876550" cy="1255395"/>
            <a:chOff x="0" y="0"/>
            <a:chExt cx="3835400" cy="167386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20420"/>
              <a:ext cx="38354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Nouns that refer to female beings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3835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Женский род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4248150"/>
            <a:ext cx="2876550" cy="1255395"/>
            <a:chOff x="0" y="0"/>
            <a:chExt cx="3835400" cy="167386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820420"/>
              <a:ext cx="38354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Nouns that refer to inanimate objects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3835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Средний род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4C3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4619625" cy="298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4A6A57"/>
                </a:solidFill>
                <a:latin typeface="Radley"/>
                <a:ea typeface="Radley"/>
                <a:cs typeface="Radley"/>
                <a:sym typeface="Radley"/>
              </a:rPr>
              <a:t>Падежи в русском языке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3325" y="7829550"/>
            <a:ext cx="5753100" cy="1209675"/>
            <a:chOff x="0" y="0"/>
            <a:chExt cx="7670800" cy="16129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Шесть падежей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Русский язык включает шесть падежей с уникальными функциями.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A6A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4619625" cy="694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4A6A57"/>
                </a:solidFill>
                <a:latin typeface="Radley"/>
                <a:ea typeface="Radley"/>
                <a:cs typeface="Radley"/>
                <a:sym typeface="Radley"/>
              </a:rPr>
              <a:t>Имя прилагательное: Признаки и согласование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3325" y="7829550"/>
            <a:ext cx="5753100" cy="1209675"/>
            <a:chOff x="0" y="0"/>
            <a:chExt cx="7670800" cy="16129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Прилагательное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Определяет признаки предметов и согласуется с существительными.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A6A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4C3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4619625" cy="694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4A6A57"/>
                </a:solidFill>
                <a:latin typeface="Radley"/>
                <a:ea typeface="Radley"/>
                <a:cs typeface="Radley"/>
                <a:sym typeface="Radley"/>
              </a:rPr>
              <a:t>Степени сравнения прилагательных в русском языке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3325" y="7829550"/>
            <a:ext cx="5753100" cy="1209675"/>
            <a:chOff x="0" y="0"/>
            <a:chExt cx="7670800" cy="16129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Степени сравнения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Положительная, сравнительная и превосходная формы прилагательных.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A6A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4619625" cy="3976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4A6A57"/>
                </a:solidFill>
                <a:latin typeface="Radley"/>
                <a:ea typeface="Radley"/>
                <a:cs typeface="Radley"/>
                <a:sym typeface="Radley"/>
              </a:rPr>
              <a:t>Глагол: Действие и состояние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3325" y="7829550"/>
            <a:ext cx="5753100" cy="895350"/>
            <a:chOff x="0" y="0"/>
            <a:chExt cx="7670800" cy="11938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Действие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Глаголы обозначают действия и состояния в языке.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A6A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4C3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4619625" cy="694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4A6A57"/>
                </a:solidFill>
                <a:latin typeface="Radley"/>
                <a:ea typeface="Radley"/>
                <a:cs typeface="Radley"/>
                <a:sym typeface="Radley"/>
              </a:rPr>
              <a:t>Времена глагола: Прошедшее, настоящее, будущее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3325" y="7829550"/>
            <a:ext cx="5753100" cy="895350"/>
            <a:chOff x="0" y="0"/>
            <a:chExt cx="7670800" cy="11938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Времена глагола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Глаголы изменяются по времени, указывая на действие.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A6A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4619625" cy="3976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4A6A57"/>
                </a:solidFill>
                <a:latin typeface="Radley"/>
                <a:ea typeface="Radley"/>
                <a:cs typeface="Radley"/>
                <a:sym typeface="Radley"/>
              </a:rPr>
              <a:t>Местоимения в русском языке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3325" y="7829550"/>
            <a:ext cx="5753100" cy="1209675"/>
            <a:chOff x="0" y="0"/>
            <a:chExt cx="7670800" cy="16129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Указание и замена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Местоимения заменяют существительные и указывают на них.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A6A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4C3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4619625" cy="694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4A6A57"/>
                </a:solidFill>
                <a:latin typeface="Radley"/>
                <a:ea typeface="Radley"/>
                <a:cs typeface="Radley"/>
                <a:sym typeface="Radley"/>
              </a:rPr>
              <a:t>Имя числительное: Изучение количества и порядка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3325" y="7829550"/>
            <a:ext cx="5753100" cy="1209675"/>
            <a:chOff x="0" y="0"/>
            <a:chExt cx="7670800" cy="16129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Числа и их виды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Имя числительное обозначает </a:t>
              </a:r>
              <a:r>
                <a:rPr lang="en-US" b="true" sz="1800">
                  <a:solidFill>
                    <a:srgbClr val="4A6A57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количество</a:t>
              </a: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 или </a:t>
              </a:r>
              <a:r>
                <a:rPr lang="en-US" b="true" sz="1800">
                  <a:solidFill>
                    <a:srgbClr val="4A6A57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порядок</a:t>
              </a: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 предметов.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A6A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4619625" cy="595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4A6A57"/>
                </a:solidFill>
                <a:latin typeface="Radley"/>
                <a:ea typeface="Radley"/>
                <a:cs typeface="Radley"/>
                <a:sym typeface="Radley"/>
              </a:rPr>
              <a:t>Наречие: Признак действия и его особенности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3325" y="7829550"/>
            <a:ext cx="5753100" cy="1209675"/>
            <a:chOff x="0" y="0"/>
            <a:chExt cx="7670800" cy="16129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Признак действия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Наречия описывают, </a:t>
              </a:r>
              <a:r>
                <a:rPr lang="en-US" b="true" sz="1800">
                  <a:solidFill>
                    <a:srgbClr val="4A6A57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как, где и когда</a:t>
              </a: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 происходят действия.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A6A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4C3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4619625" cy="496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4A6A57"/>
                </a:solidFill>
                <a:latin typeface="Radley"/>
                <a:ea typeface="Radley"/>
                <a:cs typeface="Radley"/>
                <a:sym typeface="Radley"/>
              </a:rPr>
              <a:t>Служебные части речи в русском языке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3325" y="7829550"/>
            <a:ext cx="5753100" cy="1209675"/>
            <a:chOff x="0" y="0"/>
            <a:chExt cx="7670800" cy="16129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Связь между словами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Служебные части речи </a:t>
              </a:r>
              <a:r>
                <a:rPr lang="en-US" b="true" sz="1800">
                  <a:solidFill>
                    <a:srgbClr val="4A6A57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связывают</a:t>
              </a: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 другие слова в предложении.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A6A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4619625" cy="595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4A6A57"/>
                </a:solidFill>
                <a:latin typeface="Radley"/>
                <a:ea typeface="Radley"/>
                <a:cs typeface="Radley"/>
                <a:sym typeface="Radley"/>
              </a:rPr>
              <a:t>Причастие и деепричастие в русском языке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53325" y="7829550"/>
            <a:ext cx="5753100" cy="1209675"/>
            <a:chOff x="0" y="0"/>
            <a:chExt cx="7670800" cy="16129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Глагольные формы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Причастия и деепричастия показывают действие и его связь.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A6A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A4C3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4" y="2932118"/>
            <a:ext cx="6569697" cy="4349743"/>
            <a:chOff x="0" y="0"/>
            <a:chExt cx="8759596" cy="5799657"/>
          </a:xfrm>
        </p:grpSpPr>
        <p:sp>
          <p:nvSpPr>
            <p:cNvPr name="AutoShape 3" id="3"/>
            <p:cNvSpPr/>
            <p:nvPr/>
          </p:nvSpPr>
          <p:spPr>
            <a:xfrm flipV="true">
              <a:off x="18" y="4140192"/>
              <a:ext cx="8759543" cy="12700"/>
            </a:xfrm>
            <a:prstGeom prst="line">
              <a:avLst/>
            </a:prstGeom>
            <a:ln cap="flat" w="25400">
              <a:solidFill>
                <a:srgbClr val="4A6A5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V="true">
              <a:off x="35" y="1748365"/>
              <a:ext cx="8759543" cy="12700"/>
            </a:xfrm>
            <a:prstGeom prst="line">
              <a:avLst/>
            </a:prstGeom>
            <a:ln cap="flat" w="25400">
              <a:solidFill>
                <a:srgbClr val="4A6A5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52" y="-76200"/>
              <a:ext cx="8759543" cy="478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ВЕБСАЙТ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52" y="414865"/>
              <a:ext cx="8759543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sz="3499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reallygreatsite.com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52" y="2317746"/>
              <a:ext cx="8759543" cy="478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ЭЛЕКТРОННАЯ ПОЧТА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2" y="2808811"/>
              <a:ext cx="8759543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 strike="noStrike" u="none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hello@reallygreatsite.com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2" y="4610092"/>
              <a:ext cx="8759543" cy="478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4A6A57"/>
                  </a:solidFill>
                  <a:latin typeface="Carlito"/>
                  <a:ea typeface="Carlito"/>
                  <a:cs typeface="Carlito"/>
                  <a:sym typeface="Carlito"/>
                </a:rPr>
                <a:t>ТЕЛЕФОН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2" y="5101157"/>
              <a:ext cx="8759543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 strike="noStrike" u="none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123-456-7890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2468209"/>
            <a:ext cx="8324850" cy="4902519"/>
            <a:chOff x="0" y="0"/>
            <a:chExt cx="11099800" cy="6536692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49111" y="1215813"/>
              <a:ext cx="11050689" cy="53208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</a:pPr>
              <a:r>
                <a:rPr lang="en-US" sz="7000">
                  <a:solidFill>
                    <a:srgbClr val="4A6A57"/>
                  </a:solidFill>
                  <a:latin typeface="Radley"/>
                  <a:ea typeface="Radley"/>
                  <a:cs typeface="Radley"/>
                  <a:sym typeface="Radley"/>
                </a:rPr>
                <a:t>Заключение: Итог, значение и применение морфологии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57150"/>
              <a:ext cx="11050689" cy="645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3500" i="true" u="none">
                  <a:solidFill>
                    <a:srgbClr val="4A6A57"/>
                  </a:solidFill>
                  <a:latin typeface="Radley Italics"/>
                  <a:ea typeface="Radley Italics"/>
                  <a:cs typeface="Radley Italics"/>
                  <a:sym typeface="Radley Italics"/>
                </a:rPr>
                <a:t>Спасибо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Презентация - Морфология</dc:description>
  <dc:identifier>DAHGz3O0-0U</dc:identifier>
  <dcterms:modified xsi:type="dcterms:W3CDTF">2011-08-01T06:04:30Z</dcterms:modified>
  <cp:revision>1</cp:revision>
  <dc:title>Презентация - Морфология</dc:title>
</cp:coreProperties>
</file>